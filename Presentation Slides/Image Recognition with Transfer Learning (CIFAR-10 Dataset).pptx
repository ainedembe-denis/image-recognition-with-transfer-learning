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4" r:id="rId3"/>
    <p:sldId id="285" r:id="rId4"/>
    <p:sldId id="286" r:id="rId5"/>
    <p:sldId id="287" r:id="rId6"/>
    <p:sldId id="257" r:id="rId7"/>
    <p:sldId id="258" r:id="rId8"/>
    <p:sldId id="289" r:id="rId9"/>
    <p:sldId id="268" r:id="rId10"/>
    <p:sldId id="264" r:id="rId11"/>
    <p:sldId id="265" r:id="rId12"/>
    <p:sldId id="266" r:id="rId13"/>
    <p:sldId id="267" r:id="rId14"/>
    <p:sldId id="276" r:id="rId15"/>
    <p:sldId id="277" r:id="rId16"/>
    <p:sldId id="269" r:id="rId17"/>
    <p:sldId id="260" r:id="rId18"/>
    <p:sldId id="270" r:id="rId19"/>
    <p:sldId id="271" r:id="rId20"/>
    <p:sldId id="272" r:id="rId21"/>
    <p:sldId id="273" r:id="rId22"/>
    <p:sldId id="274" r:id="rId23"/>
    <p:sldId id="275" r:id="rId24"/>
    <p:sldId id="279" r:id="rId25"/>
    <p:sldId id="278" r:id="rId26"/>
    <p:sldId id="280" r:id="rId27"/>
    <p:sldId id="281" r:id="rId28"/>
    <p:sldId id="282" r:id="rId29"/>
    <p:sldId id="290" r:id="rId30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8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4938F-ADEC-3EB9-B448-21B23CCB2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23C97-7E74-DF1F-6469-36A7636E5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24D36-3C41-6DD9-1AFE-DDFDBD2A6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26/11/2025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C1C19-0551-5553-C065-0D496F6D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CA721-080E-826A-9282-731566701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85905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DCF6-7AB5-77CE-9DB6-0424E4C4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7DB5F-FD89-C688-04C6-43CA71D8A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3F96F-8C71-A353-BC9F-415E7DA4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26/11/2025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28E08-E2D4-7A40-41A1-2524B941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0A0D1-D304-732C-3957-CC7770B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4849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6F85-B011-7647-AE3C-BE564BFD3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0C16E-B992-860F-60DC-B4994F999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56E51-2187-78D1-76E1-F1AB6C6EE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26/11/2025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4AB18-C6F7-D910-BE3C-9CA82A42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DD496-E1ED-68A9-BF11-3064846F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3797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85C0-A4E1-5D74-A434-21E1A06EB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C6476-74F0-6B55-704F-0AA2F558E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76ECC-A22B-0889-6D41-213AB6451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9A6EA-2B97-6236-FBA4-E7BA6E793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26/11/2025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973E8-39C0-0D43-A539-3DD152D14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99231-8B86-DD8E-90BE-E6063C87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6717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D3B59-B81D-8865-2038-171A1773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1B11B-B807-AC1D-1447-A2535E322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C462C-049D-96F1-8D17-72CC7F747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17B8B8-0F3E-08CA-05F0-80E704634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6C621A-A709-B6FB-7A10-B30B3FA29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C5515B-3343-61FC-9D99-A58557E7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26/11/2025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FAA3A-6564-4FF6-7AE6-01405052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FFB8A-4343-90F9-D95F-7EBB9C98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66103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4CEB-D15E-37F2-C1E5-D1E37C14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52F661-11A7-D54B-EFBF-50BE61EF6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26/11/2025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DC7DF-CF66-7F7A-BAFF-14E20D2E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6E850-1696-32E5-9F5C-C324F7EB1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25290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989E15-8C64-E1C9-5403-7E249CA8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26/11/2025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A21C9-6C94-E3C2-942C-47EE8706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84F0E-D56D-BA83-B1BD-74BC7AA03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31363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C2D9-FCCB-BA27-3B44-8845D9D12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3BC8D-184E-AA00-5C8C-4C883BA0E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61F3B-7FB4-54FC-7362-56D61CF9D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A20A4-31C2-9BD0-3B22-7DB97A6CA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26/11/2025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38204-98F2-AF71-5921-F9A4CF3A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425B0-3623-8218-0A0B-264B0C1A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57959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1723-A29E-F050-0A61-153A784EB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034F4-2E52-D3CE-90B8-8522CC583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460E3-6C12-0A2E-FA57-098A33C58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3B163-5564-DC8C-61C2-9624EB9C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26/11/2025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44B8D-3980-FC64-C7A5-AE6BD4E4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2FADA-F53F-D05D-5EEC-D32FAB965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35261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B065B-BF59-4059-6B99-A63CC7F6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79E77-A1A0-19A7-858C-B1B7C1172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03110-6D53-0EC5-3B86-EBA1BA9F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26/11/2025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5FEA3-14A7-40DB-B3D1-042715DF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1DEB7-5194-3244-FCBC-A4A45941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9618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46EF7-4901-4500-D69F-D6370CAFA4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C6AD7-9841-2583-DFB5-570644548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3A0AF-7A18-448C-F5F0-73674F032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26/11/2025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5FDB4-5C0E-C1B3-DDD8-E5886297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06329-07D2-AF81-8B78-6E0012B1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2547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D01B61-BC43-FA50-3722-2A41FDC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06AE6-B204-5014-3ADF-E6002AE5D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5F160-9A44-15B2-159C-4CE210D62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38531-230B-4A6D-9811-B1635E26052B}" type="datetimeFigureOut">
              <a:rPr lang="en-UG" smtClean="0"/>
              <a:t>26/11/2025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002AD-F30A-E934-497A-0902498C0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A00B7-03B2-6F98-0472-F7FB13B30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56870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C700-0C7B-8A4F-1C5B-298DA8758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965" y="2202791"/>
            <a:ext cx="9144000" cy="17699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DEEP LEARNING </a:t>
            </a:r>
            <a:br>
              <a:rPr lang="en-US" b="1" dirty="0"/>
            </a:br>
            <a:r>
              <a:rPr lang="en-US" sz="4400" dirty="0"/>
              <a:t>Image Recognition with Transfer Learning (CIFAR-10 Dataset)</a:t>
            </a:r>
            <a:endParaRPr lang="en-UG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E9A0F3-663F-D3CB-EF51-0E18C3071B33}"/>
              </a:ext>
            </a:extLst>
          </p:cNvPr>
          <p:cNvGraphicFramePr>
            <a:graphicFrameLocks noGrp="1"/>
          </p:cNvGraphicFramePr>
          <p:nvPr/>
        </p:nvGraphicFramePr>
        <p:xfrm>
          <a:off x="1926583" y="4699096"/>
          <a:ext cx="8061645" cy="1200173"/>
        </p:xfrm>
        <a:graphic>
          <a:graphicData uri="http://schemas.openxmlformats.org/drawingml/2006/table">
            <a:tbl>
              <a:tblPr/>
              <a:tblGrid>
                <a:gridCol w="2810059">
                  <a:extLst>
                    <a:ext uri="{9D8B030D-6E8A-4147-A177-3AD203B41FA5}">
                      <a16:colId xmlns:a16="http://schemas.microsoft.com/office/drawing/2014/main" val="4234424127"/>
                    </a:ext>
                  </a:extLst>
                </a:gridCol>
                <a:gridCol w="5251586">
                  <a:extLst>
                    <a:ext uri="{9D8B030D-6E8A-4147-A177-3AD203B41FA5}">
                      <a16:colId xmlns:a16="http://schemas.microsoft.com/office/drawing/2014/main" val="3473141048"/>
                    </a:ext>
                  </a:extLst>
                </a:gridCol>
              </a:tblGrid>
              <a:tr h="357016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STUDENTS (GROUP2)</a:t>
                      </a:r>
                      <a:endParaRPr lang="en-UG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2886" marR="112886" marT="56443" marB="564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AINEDEMBE DENIS       2024-M132-23999</a:t>
                      </a:r>
                      <a:endParaRPr lang="en-UG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23798"/>
                  </a:ext>
                </a:extLst>
              </a:tr>
              <a:tr h="486141">
                <a:tc v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G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MUSINGUZI BENSON    2024-M132-23947</a:t>
                      </a: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28472"/>
                  </a:ext>
                </a:extLst>
              </a:tr>
              <a:tr h="3570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LECTURER </a:t>
                      </a:r>
                      <a:endParaRPr lang="en-UG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Dr. </a:t>
                      </a:r>
                      <a:r>
                        <a:rPr lang="en-CA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Sibitenda</a:t>
                      </a:r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Harriet</a:t>
                      </a:r>
                      <a:endParaRPr lang="en-UG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81453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34FA84F-DBD1-06EC-740A-A3FE53A1D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404" y="465841"/>
            <a:ext cx="2061740" cy="218669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F32AB4-D3AD-B4CF-2ED4-B849268CD692}"/>
              </a:ext>
            </a:extLst>
          </p:cNvPr>
          <p:cNvSpPr txBox="1"/>
          <p:nvPr/>
        </p:nvSpPr>
        <p:spPr>
          <a:xfrm>
            <a:off x="882570" y="958731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dirty="0"/>
              <a:t>MASTER OF SCIENCE OF INFORMATION SYSTEMS</a:t>
            </a:r>
          </a:p>
          <a:p>
            <a:r>
              <a:rPr lang="en-UG" dirty="0"/>
              <a:t>INTELLIGENT SYSTEMS</a:t>
            </a:r>
          </a:p>
        </p:txBody>
      </p:sp>
    </p:spTree>
    <p:extLst>
      <p:ext uri="{BB962C8B-B14F-4D97-AF65-F5344CB8AC3E}">
        <p14:creationId xmlns:p14="http://schemas.microsoft.com/office/powerpoint/2010/main" val="1787801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143" y="1003980"/>
            <a:ext cx="8229600" cy="685801"/>
          </a:xfrm>
        </p:spPr>
        <p:txBody>
          <a:bodyPr>
            <a:normAutofit fontScale="90000"/>
          </a:bodyPr>
          <a:lstStyle/>
          <a:p>
            <a:pPr algn="l"/>
            <a:r>
              <a:rPr b="1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lvl="1" algn="just"/>
            <a:r>
              <a:rPr dirty="0"/>
              <a:t>Apply transfer learning to the CIFAR-10 image classification task</a:t>
            </a:r>
            <a:endParaRPr lang="en-US" dirty="0"/>
          </a:p>
          <a:p>
            <a:pPr lvl="1" algn="just"/>
            <a:endParaRPr dirty="0"/>
          </a:p>
          <a:p>
            <a:pPr lvl="1" algn="just"/>
            <a:r>
              <a:rPr dirty="0"/>
              <a:t>Compare performance of pre-trained models and a custom CNN</a:t>
            </a:r>
            <a:endParaRPr lang="en-US" dirty="0"/>
          </a:p>
          <a:p>
            <a:pPr lvl="1" algn="just"/>
            <a:endParaRPr dirty="0"/>
          </a:p>
          <a:p>
            <a:pPr lvl="1" algn="just"/>
            <a:r>
              <a:rPr dirty="0"/>
              <a:t>Implement preprocessing, </a:t>
            </a:r>
            <a:r>
              <a:rPr dirty="0" err="1"/>
              <a:t>upsampling</a:t>
            </a:r>
            <a:r>
              <a:rPr dirty="0"/>
              <a:t>, and augmentation techniques</a:t>
            </a:r>
            <a:endParaRPr lang="en-US" dirty="0"/>
          </a:p>
          <a:p>
            <a:pPr lvl="1" algn="just"/>
            <a:endParaRPr dirty="0"/>
          </a:p>
          <a:p>
            <a:pPr lvl="1" algn="just"/>
            <a:r>
              <a:rPr dirty="0"/>
              <a:t>Analyze training outputs and model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885" y="274639"/>
            <a:ext cx="8229600" cy="743934"/>
          </a:xfrm>
        </p:spPr>
        <p:txBody>
          <a:bodyPr>
            <a:normAutofit/>
          </a:bodyPr>
          <a:lstStyle/>
          <a:p>
            <a:pPr algn="l"/>
            <a:r>
              <a:rPr b="1" dirty="0"/>
              <a:t>About the CIFAR-10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029" y="1218234"/>
            <a:ext cx="10885713" cy="5365127"/>
          </a:xfrm>
        </p:spPr>
        <p:txBody>
          <a:bodyPr>
            <a:noAutofit/>
          </a:bodyPr>
          <a:lstStyle/>
          <a:p>
            <a:pPr lvl="1" algn="just"/>
            <a:r>
              <a:rPr dirty="0"/>
              <a:t>CIFAR-10 contains 60,000 color images sized 32×32 pixels. </a:t>
            </a:r>
            <a:endParaRPr lang="en-US" dirty="0"/>
          </a:p>
          <a:p>
            <a:pPr lvl="1" algn="just"/>
            <a:endParaRPr lang="en-US" dirty="0"/>
          </a:p>
          <a:p>
            <a:pPr lvl="1" algn="just"/>
            <a:r>
              <a:rPr dirty="0"/>
              <a:t>10 mutually exclusive classes, with 6,000 images per class.</a:t>
            </a:r>
            <a:endParaRPr lang="en-US" dirty="0"/>
          </a:p>
          <a:p>
            <a:pPr lvl="1" algn="just"/>
            <a:endParaRPr dirty="0"/>
          </a:p>
          <a:p>
            <a:pPr lvl="1" algn="just"/>
            <a:r>
              <a:rPr dirty="0"/>
              <a:t>Split: 50,000 training images and 10,000 test images.</a:t>
            </a:r>
            <a:endParaRPr lang="en-US" dirty="0"/>
          </a:p>
          <a:p>
            <a:pPr lvl="1" algn="just"/>
            <a:endParaRPr dirty="0"/>
          </a:p>
          <a:p>
            <a:pPr lvl="1" algn="just"/>
            <a:r>
              <a:rPr dirty="0"/>
              <a:t>Dataset structure: 5 training batches (10,000 each) and 1 test batch.</a:t>
            </a:r>
            <a:endParaRPr lang="en-US" dirty="0"/>
          </a:p>
          <a:p>
            <a:pPr lvl="1" algn="just"/>
            <a:endParaRPr dirty="0"/>
          </a:p>
          <a:p>
            <a:pPr lvl="1" algn="just"/>
            <a:r>
              <a:rPr dirty="0"/>
              <a:t>Test batch has exactly 1,000 images per class.</a:t>
            </a:r>
            <a:endParaRPr lang="en-US" dirty="0"/>
          </a:p>
          <a:p>
            <a:pPr lvl="1" algn="just"/>
            <a:endParaRPr dirty="0"/>
          </a:p>
          <a:p>
            <a:pPr lvl="1" algn="just"/>
            <a:r>
              <a:rPr dirty="0"/>
              <a:t>Training batches contain 5,000 images per class in total (random distribution).</a:t>
            </a:r>
            <a:endParaRPr lang="en-US" dirty="0"/>
          </a:p>
          <a:p>
            <a:pPr lvl="1" algn="just"/>
            <a:endParaRPr dirty="0"/>
          </a:p>
          <a:p>
            <a:pPr lvl="1" algn="just"/>
            <a:r>
              <a:rPr dirty="0"/>
              <a:t>Each batch is a pickled Python dictionary containing 'data' and 'labels'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7F025-6C38-E78F-7227-B86610770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7ACA-34EF-99A0-DDBA-8A7DA80DB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86" y="425109"/>
            <a:ext cx="8229600" cy="593463"/>
          </a:xfrm>
        </p:spPr>
        <p:txBody>
          <a:bodyPr>
            <a:normAutofit fontScale="90000"/>
          </a:bodyPr>
          <a:lstStyle/>
          <a:p>
            <a:pPr algn="l"/>
            <a:r>
              <a:rPr b="1" dirty="0"/>
              <a:t>About the CIFAR-10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558BE4-C60E-43AF-3DF3-7EEBF7965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56" y="1018572"/>
            <a:ext cx="7150139" cy="541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70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FB74A-A2DB-AD9B-0171-B9106951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5DE3-AB2B-8F0E-4FCA-3938D4E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71" y="555171"/>
            <a:ext cx="8229600" cy="743934"/>
          </a:xfrm>
        </p:spPr>
        <p:txBody>
          <a:bodyPr>
            <a:normAutofit/>
          </a:bodyPr>
          <a:lstStyle/>
          <a:p>
            <a:pPr algn="l"/>
            <a:r>
              <a:rPr lang="en-US" sz="3500" b="1" dirty="0"/>
              <a:t>Real-Life Applicability</a:t>
            </a:r>
            <a:endParaRPr sz="3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B5A6E-1EE3-1047-2D64-AD6A8C53E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171" y="1501264"/>
            <a:ext cx="10047514" cy="4801565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US" dirty="0"/>
              <a:t>1. </a:t>
            </a:r>
            <a:r>
              <a:rPr lang="en-US" b="1" dirty="0"/>
              <a:t>Automated Image Classification</a:t>
            </a:r>
          </a:p>
          <a:p>
            <a:pPr lvl="1" algn="just"/>
            <a:r>
              <a:rPr lang="en-US" dirty="0"/>
              <a:t>Used in photo apps, digital libraries, and content filtering</a:t>
            </a:r>
          </a:p>
          <a:p>
            <a:pPr lvl="1" algn="just"/>
            <a:r>
              <a:rPr lang="en-US" dirty="0"/>
              <a:t>Helps systems recognize and sort images automatically</a:t>
            </a:r>
          </a:p>
          <a:p>
            <a:pPr marL="457200" lvl="1" indent="0" algn="just">
              <a:buNone/>
            </a:pPr>
            <a:endParaRPr lang="en-US" dirty="0"/>
          </a:p>
          <a:p>
            <a:pPr marL="457200" lvl="1" indent="0" algn="just">
              <a:buNone/>
            </a:pPr>
            <a:r>
              <a:rPr lang="en-US" b="1" dirty="0"/>
              <a:t>2. Object Detection Pre-Training</a:t>
            </a:r>
          </a:p>
          <a:p>
            <a:pPr lvl="1" algn="just"/>
            <a:r>
              <a:rPr lang="en-US" dirty="0"/>
              <a:t>CIFAR-10 teaches models to detect basic objects</a:t>
            </a:r>
          </a:p>
          <a:p>
            <a:pPr lvl="1" algn="just"/>
            <a:r>
              <a:rPr lang="en-US" dirty="0"/>
              <a:t>Useful for self-driving cars, surveillance, and drone vision</a:t>
            </a:r>
          </a:p>
          <a:p>
            <a:pPr marL="457200" lvl="1" indent="0" algn="just">
              <a:buNone/>
            </a:pPr>
            <a:endParaRPr lang="en-US" dirty="0"/>
          </a:p>
          <a:p>
            <a:pPr marL="457200" lvl="1" indent="0" algn="just">
              <a:buNone/>
            </a:pPr>
            <a:r>
              <a:rPr lang="en-US" b="1" dirty="0"/>
              <a:t>3. Transfer Learning for Real Datasets</a:t>
            </a:r>
          </a:p>
          <a:p>
            <a:pPr lvl="1" algn="just"/>
            <a:r>
              <a:rPr lang="en-US" dirty="0"/>
              <a:t>Same method used in medical imaging (X-ray/MRI)</a:t>
            </a:r>
          </a:p>
          <a:p>
            <a:pPr lvl="1" algn="just"/>
            <a:r>
              <a:rPr lang="en-US" dirty="0"/>
              <a:t>Also applied in face recognition and other advanced AI systems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1141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C50D-3283-6CEB-2559-049BE89F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Load CIFAR-10 </a:t>
            </a:r>
            <a:r>
              <a:rPr lang="en-US" b="1" dirty="0" err="1"/>
              <a:t>datase</a:t>
            </a:r>
            <a:endParaRPr lang="en-U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038126-CADE-1E6E-63EE-07C2B5FBB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71" y="1581931"/>
            <a:ext cx="10387154" cy="408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303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65B5C-38C2-74C7-0F8F-7FB306EB4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5755B-493E-405A-3A04-6D5C0C29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Visualize sample images from each class</a:t>
            </a:r>
            <a:endParaRPr lang="en-U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457167-8C42-3F70-F18E-14A993579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447621"/>
            <a:ext cx="11353800" cy="481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97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AC488-73CE-C09D-D6F6-AFFE7060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0777A-F9C8-C9A2-23EF-4D799213C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243" y="1028217"/>
            <a:ext cx="10047514" cy="4801565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endParaRPr lang="en-US" dirty="0"/>
          </a:p>
          <a:p>
            <a:pPr marL="457200" lvl="1" indent="0" algn="just">
              <a:buNone/>
            </a:pPr>
            <a:endParaRPr lang="en-US" dirty="0"/>
          </a:p>
          <a:p>
            <a:pPr marL="457200" lvl="1" indent="0" algn="just">
              <a:buNone/>
            </a:pPr>
            <a:endParaRPr lang="en-US" dirty="0"/>
          </a:p>
          <a:p>
            <a:pPr marL="457200" lvl="1" indent="0" algn="just">
              <a:buNone/>
            </a:pPr>
            <a:endParaRPr lang="en-US" dirty="0"/>
          </a:p>
          <a:p>
            <a:pPr marL="457200" lvl="1" indent="0" algn="ctr">
              <a:buNone/>
            </a:pPr>
            <a:r>
              <a:rPr lang="en-US" sz="5000" dirty="0"/>
              <a:t>Pre-trained model Used </a:t>
            </a:r>
            <a:r>
              <a:rPr lang="en-US" sz="5000" b="1" dirty="0"/>
              <a:t>MobileNetV2</a:t>
            </a:r>
          </a:p>
          <a:p>
            <a:pPr marL="457200" lvl="1" indent="0" algn="ctr">
              <a:buNone/>
            </a:pPr>
            <a:endParaRPr lang="en-US" sz="5000" dirty="0"/>
          </a:p>
          <a:p>
            <a:pPr marL="457200" lvl="1" indent="0" algn="ctr">
              <a:buNone/>
            </a:pPr>
            <a:endParaRPr sz="5000" dirty="0"/>
          </a:p>
        </p:txBody>
      </p:sp>
    </p:spTree>
    <p:extLst>
      <p:ext uri="{BB962C8B-B14F-4D97-AF65-F5344CB8AC3E}">
        <p14:creationId xmlns:p14="http://schemas.microsoft.com/office/powerpoint/2010/main" val="3465876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E2929-7481-EF61-32D3-97BCFEEA9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BC1D-B1B5-CED5-F057-DF6B27E7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37" y="336944"/>
            <a:ext cx="10987405" cy="688171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Data augmentation - Applying rotation, flipping, and shifts</a:t>
            </a:r>
            <a:endParaRPr lang="en-UG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83D29-7607-350B-89C2-8B5D93AA180B}"/>
              </a:ext>
            </a:extLst>
          </p:cNvPr>
          <p:cNvSpPr txBox="1"/>
          <p:nvPr/>
        </p:nvSpPr>
        <p:spPr>
          <a:xfrm>
            <a:off x="1011682" y="1286799"/>
            <a:ext cx="101686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G" sz="2400" b="1" dirty="0"/>
              <a:t>BATCH_SIZE = 128: </a:t>
            </a:r>
            <a:endParaRPr lang="en-US" sz="24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2400" dirty="0"/>
              <a:t>Number of samples processed together in one training step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2400" dirty="0"/>
              <a:t>With 40,000 training images and batch size 128, you get ~313 batches per epoch (40,000 ÷ 128)</a:t>
            </a:r>
          </a:p>
          <a:p>
            <a:pPr algn="just"/>
            <a:endParaRPr lang="en-UG" sz="2400" dirty="0"/>
          </a:p>
          <a:p>
            <a:pPr algn="just"/>
            <a:r>
              <a:rPr lang="en-UG" sz="2400" b="1" dirty="0"/>
              <a:t>Target image dimensions for MobileNetV2 input =96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2400" dirty="0"/>
              <a:t>CIFAR-10 images are 32x32, but MobileNetV2 expects larger images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2400" dirty="0"/>
              <a:t>96x96 is a good size: larger than 32x32 but smaller than standard 224x224</a:t>
            </a: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/>
            <a:r>
              <a:rPr lang="en-US" sz="2400" b="1" dirty="0"/>
              <a:t>Data augmentation - Apply rotation, flipping, and shifts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Random rotation (up to 15 degrees ≈ 0.262 radians)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Random horizontal flipping /vertical shifts</a:t>
            </a:r>
            <a:endParaRPr lang="en-UG" sz="2400" dirty="0"/>
          </a:p>
        </p:txBody>
      </p:sp>
    </p:spTree>
    <p:extLst>
      <p:ext uri="{BB962C8B-B14F-4D97-AF65-F5344CB8AC3E}">
        <p14:creationId xmlns:p14="http://schemas.microsoft.com/office/powerpoint/2010/main" val="1168593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18A07-F285-8847-A81E-1DFFD8166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62C6-2176-C306-BC06-1FEBEA8C6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171"/>
          </a:xfrm>
        </p:spPr>
        <p:txBody>
          <a:bodyPr>
            <a:normAutofit/>
          </a:bodyPr>
          <a:lstStyle/>
          <a:p>
            <a:r>
              <a:rPr lang="en-US" sz="4000" b="1" dirty="0"/>
              <a:t>Apply data augmentation (rotation, flipping, shifts)</a:t>
            </a:r>
            <a:endParaRPr lang="en-UG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9EC632-A1BF-C907-79B5-31C1C1AAA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3" y="1180377"/>
            <a:ext cx="11695254" cy="497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51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DABC5-0775-83F6-5FB7-11982E76D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2145F-9DDA-B122-CCF1-5BFF36B02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171"/>
          </a:xfrm>
        </p:spPr>
        <p:txBody>
          <a:bodyPr>
            <a:normAutofit/>
          </a:bodyPr>
          <a:lstStyle/>
          <a:p>
            <a:r>
              <a:rPr lang="en-US" sz="4000" b="1" dirty="0"/>
              <a:t>Apply data augmentation (rotation, flipping, shifts)</a:t>
            </a:r>
            <a:endParaRPr lang="en-UG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F07318-625E-D74A-A54B-E3CCC2FA3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77" y="1411991"/>
            <a:ext cx="11362646" cy="483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56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54F68-E23D-FB0B-A692-6A3B0499E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3042E-6863-20DA-4516-2B738B1C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171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Using pre-trained MobileNetV2 for transfer learning</a:t>
            </a:r>
            <a:endParaRPr lang="en-UG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07AD87-B6CD-E4CC-86B4-A504D5E4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20" y="1128296"/>
            <a:ext cx="6469460" cy="536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47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88421-519B-3F9D-7BA3-0E522F1E3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8D46-ED94-2B65-0E49-FA0A0DF8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7" y="365125"/>
            <a:ext cx="10515600" cy="688171"/>
          </a:xfrm>
        </p:spPr>
        <p:txBody>
          <a:bodyPr>
            <a:normAutofit/>
          </a:bodyPr>
          <a:lstStyle/>
          <a:p>
            <a:r>
              <a:rPr lang="en-US" sz="4000" b="1" dirty="0"/>
              <a:t>Freeze lower layers, retrain top layers for 10 epochs</a:t>
            </a:r>
            <a:endParaRPr lang="en-UG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A4CD9-11AD-DFA8-8EDD-D94184E64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20" y="1157665"/>
            <a:ext cx="10623051" cy="505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03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8C518-7FC7-DBB8-F361-AA1787A76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16678-1CFE-8DB0-4611-1EE584D2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7" y="365125"/>
            <a:ext cx="10515600" cy="688171"/>
          </a:xfrm>
        </p:spPr>
        <p:txBody>
          <a:bodyPr>
            <a:normAutofit/>
          </a:bodyPr>
          <a:lstStyle/>
          <a:p>
            <a:r>
              <a:rPr lang="en-US" sz="4000" b="1" dirty="0"/>
              <a:t>Freeze lower layers, retrain top layers for 10 epochs</a:t>
            </a:r>
            <a:endParaRPr lang="en-UG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9A6DC3-4FDE-C2FA-B53C-D718EF94A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14" y="1188321"/>
            <a:ext cx="6083485" cy="38820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640A9C-5333-8F08-B1F2-21CE8C091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437" y="1188321"/>
            <a:ext cx="4694706" cy="483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65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DE487-D29F-4EF5-DF60-9435D819C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B4C7-5779-0F17-9C08-EF7BEFD3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7" y="365125"/>
            <a:ext cx="10515600" cy="688171"/>
          </a:xfrm>
        </p:spPr>
        <p:txBody>
          <a:bodyPr>
            <a:normAutofit/>
          </a:bodyPr>
          <a:lstStyle/>
          <a:p>
            <a:r>
              <a:rPr lang="en-US" sz="4000" b="1" dirty="0"/>
              <a:t>Fine-tuning different layers and learning rates</a:t>
            </a:r>
            <a:endParaRPr lang="en-UG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77806D-3F25-0070-ACC0-7C2195D9E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54" y="1338129"/>
            <a:ext cx="10657107" cy="25262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D86BCA-C9BB-B82A-D1A3-D7F54689E9A9}"/>
              </a:ext>
            </a:extLst>
          </p:cNvPr>
          <p:cNvSpPr txBox="1"/>
          <p:nvPr/>
        </p:nvSpPr>
        <p:spPr>
          <a:xfrm>
            <a:off x="726554" y="423309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Fine-tune from this layer onwards</a:t>
            </a:r>
          </a:p>
          <a:p>
            <a:r>
              <a:rPr lang="en-UG" dirty="0" err="1"/>
              <a:t>fine_tune_at</a:t>
            </a:r>
            <a:r>
              <a:rPr lang="en-UG" dirty="0"/>
              <a:t> = 100</a:t>
            </a:r>
          </a:p>
          <a:p>
            <a:endParaRPr lang="en-UG" dirty="0"/>
          </a:p>
          <a:p>
            <a:r>
              <a:rPr lang="en-UG" dirty="0"/>
              <a:t>EPOCHS_FINE_TUNE = 5</a:t>
            </a:r>
          </a:p>
        </p:txBody>
      </p:sp>
    </p:spTree>
    <p:extLst>
      <p:ext uri="{BB962C8B-B14F-4D97-AF65-F5344CB8AC3E}">
        <p14:creationId xmlns:p14="http://schemas.microsoft.com/office/powerpoint/2010/main" val="2810277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12E41-8070-2276-FA48-AEDAA36E9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C5E25-C412-15BB-4FF1-D4023DD2C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093" y="336944"/>
            <a:ext cx="11271811" cy="688171"/>
          </a:xfrm>
        </p:spPr>
        <p:txBody>
          <a:bodyPr>
            <a:normAutofit/>
          </a:bodyPr>
          <a:lstStyle/>
          <a:p>
            <a:r>
              <a:rPr lang="en-US" sz="3400" b="1" dirty="0"/>
              <a:t>Experimenting with fine-tuning different layers &amp; learning rates</a:t>
            </a:r>
            <a:endParaRPr lang="en-UG" sz="3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B005B-C4EA-2D46-4F7A-B29D5EC1CF6B}"/>
              </a:ext>
            </a:extLst>
          </p:cNvPr>
          <p:cNvSpPr txBox="1"/>
          <p:nvPr/>
        </p:nvSpPr>
        <p:spPr>
          <a:xfrm>
            <a:off x="4343882" y="4639515"/>
            <a:ext cx="35042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Fine-tune from this layer onwards</a:t>
            </a:r>
          </a:p>
          <a:p>
            <a:pPr algn="just"/>
            <a:r>
              <a:rPr lang="en-US" dirty="0"/>
              <a:t>Fine Tune at = 100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EPOCHS FINE TUNE = 5</a:t>
            </a:r>
            <a:endParaRPr lang="en-U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19047C-08C0-8CAA-33BD-F47AA86E2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18" y="1347273"/>
            <a:ext cx="10872164" cy="297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53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A433-B98F-F79F-3FF0-46BAB4894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3AF1E-B44D-4AB0-B508-1C9489F13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87" y="276847"/>
            <a:ext cx="11443565" cy="699746"/>
          </a:xfrm>
        </p:spPr>
        <p:txBody>
          <a:bodyPr>
            <a:noAutofit/>
          </a:bodyPr>
          <a:lstStyle/>
          <a:p>
            <a:r>
              <a:rPr lang="en-US" sz="3500" b="1" dirty="0"/>
              <a:t>Building custom CNN from scratch for performance comparison</a:t>
            </a:r>
            <a:endParaRPr lang="en-UG" sz="35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F1BF6B-BB54-B961-1EDB-E1C0EACE9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81" y="976593"/>
            <a:ext cx="5061842" cy="5572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C60B85-572F-735B-29F9-209B693F8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730" y="2306080"/>
            <a:ext cx="5573781" cy="310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493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45CBF-3B06-D771-1A5F-419B01C21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E23EB-7DDF-BB9C-289A-0BF21F18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87" y="276847"/>
            <a:ext cx="11443565" cy="699746"/>
          </a:xfrm>
        </p:spPr>
        <p:txBody>
          <a:bodyPr>
            <a:noAutofit/>
          </a:bodyPr>
          <a:lstStyle/>
          <a:p>
            <a:r>
              <a:rPr lang="en-US" sz="3500" b="1" dirty="0"/>
              <a:t>Building custom CNN from scratch for performance comparison</a:t>
            </a:r>
            <a:endParaRPr lang="en-UG" sz="35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280EFE-1ED5-7884-837C-DD0C3EEB0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85" y="1140699"/>
            <a:ext cx="10947447" cy="445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481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64D4C-9F66-12F1-09C7-7771E1FC4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895BC-7A4D-6FF9-2592-1079EF47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30" y="259863"/>
            <a:ext cx="11443565" cy="521806"/>
          </a:xfrm>
        </p:spPr>
        <p:txBody>
          <a:bodyPr>
            <a:noAutofit/>
          </a:bodyPr>
          <a:lstStyle/>
          <a:p>
            <a:r>
              <a:rPr lang="en-US" sz="3500" b="1" dirty="0"/>
              <a:t>Evaluating accuracy and confusion matrix; visualize predictions</a:t>
            </a:r>
            <a:endParaRPr lang="en-UG" sz="35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11F3E9-392A-1B94-C158-6E7AC3034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87" y="1009307"/>
            <a:ext cx="6245364" cy="53949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D462F6-9ED6-3F6A-01FF-6BD867C1AF4D}"/>
              </a:ext>
            </a:extLst>
          </p:cNvPr>
          <p:cNvSpPr txBox="1"/>
          <p:nvPr/>
        </p:nvSpPr>
        <p:spPr>
          <a:xfrm>
            <a:off x="7140224" y="1489461"/>
            <a:ext cx="442974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Transfer (fine-tuned) test accuracy: 0.10000000149011612</a:t>
            </a:r>
          </a:p>
          <a:p>
            <a:endParaRPr lang="en-US" sz="2400" dirty="0"/>
          </a:p>
          <a:p>
            <a:r>
              <a:rPr lang="en-US" sz="2400" dirty="0"/>
              <a:t>Custom CNN test accuracy: 0.6708999872207642</a:t>
            </a:r>
          </a:p>
          <a:p>
            <a:endParaRPr lang="en-US" sz="2400" dirty="0"/>
          </a:p>
          <a:p>
            <a:r>
              <a:rPr lang="en-US" sz="2400" dirty="0"/>
              <a:t>79/79 ━━━━ 33s 388ms/step</a:t>
            </a:r>
          </a:p>
          <a:p>
            <a:r>
              <a:rPr lang="en-US" sz="2400" dirty="0"/>
              <a:t>Confusion matrix shape: (10, 10)</a:t>
            </a:r>
            <a:endParaRPr lang="en-U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DC12E-D429-A6D2-5C61-7F00EC252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871" y="5513531"/>
            <a:ext cx="4872281" cy="89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80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805D9-6102-4A3D-BA4A-8180E331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39B6-54A5-9025-3E06-3B7CC61DD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87" y="276847"/>
            <a:ext cx="11443565" cy="699746"/>
          </a:xfrm>
        </p:spPr>
        <p:txBody>
          <a:bodyPr>
            <a:noAutofit/>
          </a:bodyPr>
          <a:lstStyle/>
          <a:p>
            <a:r>
              <a:rPr lang="en-US" sz="3500" b="1" dirty="0"/>
              <a:t>Compare Performance with custom CNN (Continued)</a:t>
            </a:r>
            <a:endParaRPr lang="en-UG" sz="35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63AEFE-A1F4-DA04-100B-72F471947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21" y="4974235"/>
            <a:ext cx="11632557" cy="14140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35E506-6398-9059-1AC1-C5F1AF2E03B4}"/>
              </a:ext>
            </a:extLst>
          </p:cNvPr>
          <p:cNvSpPr txBox="1"/>
          <p:nvPr/>
        </p:nvSpPr>
        <p:spPr>
          <a:xfrm>
            <a:off x="279721" y="4573723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dirty="0"/>
              <a:t>Sample predictions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B5BCBC-DBFB-297A-6084-7CC3D47D3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050" y="898267"/>
            <a:ext cx="5093464" cy="384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750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473DE-A55E-7000-9474-AD4EB18BB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0CDC5-1630-3730-1961-3E9BD727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81" y="219915"/>
            <a:ext cx="11443565" cy="617779"/>
          </a:xfrm>
        </p:spPr>
        <p:txBody>
          <a:bodyPr>
            <a:noAutofit/>
          </a:bodyPr>
          <a:lstStyle/>
          <a:p>
            <a:r>
              <a:rPr lang="en-US" sz="3500" b="1" dirty="0"/>
              <a:t>Plot training history (accuracy/loss) for all models</a:t>
            </a:r>
            <a:endParaRPr lang="en-UG" sz="35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48150-43D1-B40A-B7CD-BF4A416541FD}"/>
              </a:ext>
            </a:extLst>
          </p:cNvPr>
          <p:cNvSpPr txBox="1"/>
          <p:nvPr/>
        </p:nvSpPr>
        <p:spPr>
          <a:xfrm>
            <a:off x="613581" y="4444858"/>
            <a:ext cx="5177619" cy="1715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u="sng" dirty="0"/>
              <a:t>Accuracy: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50" dirty="0"/>
              <a:t>Training: Starts at ~40%, increases to ~75% by epoch 10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50" dirty="0"/>
              <a:t>Validation: Starts at ~25%, increases to ~67% by epoch 10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50" dirty="0"/>
              <a:t>Gap: ~8% difference (training higher)</a:t>
            </a:r>
            <a:endParaRPr lang="en-UG" sz="17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153895-6742-C622-3813-76BE44778A9B}"/>
              </a:ext>
            </a:extLst>
          </p:cNvPr>
          <p:cNvSpPr txBox="1"/>
          <p:nvPr/>
        </p:nvSpPr>
        <p:spPr>
          <a:xfrm>
            <a:off x="6713317" y="4444243"/>
            <a:ext cx="48651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u="sng" dirty="0"/>
              <a:t>Loss: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Training: Starts at ~1.7, decreases to &lt;1.0 by epoch 10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Validation: Starts at ~2.5, decreases to ~1.05 by epoch 10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Gap: Validation loss remains higher</a:t>
            </a:r>
            <a:endParaRPr lang="en-U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675102-4DE5-E1C4-6390-9F17C47C37B4}"/>
              </a:ext>
            </a:extLst>
          </p:cNvPr>
          <p:cNvSpPr txBox="1"/>
          <p:nvPr/>
        </p:nvSpPr>
        <p:spPr>
          <a:xfrm>
            <a:off x="659881" y="6199184"/>
            <a:ext cx="10918536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G" b="1" dirty="0"/>
              <a:t>Overall: </a:t>
            </a:r>
            <a:r>
              <a:rPr lang="en-US" b="1" dirty="0"/>
              <a:t>Best performance. </a:t>
            </a:r>
            <a:r>
              <a:rPr lang="en-US" dirty="0"/>
              <a:t>Both metrics improve, with moderate overfitting.</a:t>
            </a:r>
            <a:endParaRPr lang="en-U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6CCBB-1420-8541-15B1-56D4F7F07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66" y="868555"/>
            <a:ext cx="10872238" cy="35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378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7D4D-7D53-656E-92B5-BDF9A801E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1B72-051C-3503-BB71-9CD0557A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71" y="176435"/>
            <a:ext cx="11443565" cy="492526"/>
          </a:xfrm>
        </p:spPr>
        <p:txBody>
          <a:bodyPr>
            <a:noAutofit/>
          </a:bodyPr>
          <a:lstStyle/>
          <a:p>
            <a:r>
              <a:rPr lang="en-US" sz="3500" b="1" dirty="0"/>
              <a:t>Plot training history (accuracy/loss) for all models</a:t>
            </a:r>
            <a:endParaRPr lang="en-UG" sz="35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7F980-30E3-E0B3-DF71-076589E34FC9}"/>
              </a:ext>
            </a:extLst>
          </p:cNvPr>
          <p:cNvSpPr txBox="1"/>
          <p:nvPr/>
        </p:nvSpPr>
        <p:spPr>
          <a:xfrm>
            <a:off x="486261" y="4164490"/>
            <a:ext cx="55094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u="sng" dirty="0"/>
              <a:t>Accuracy: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Training: Starts at ~29%, increases to ~40% by epoch 10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Validation: Stays very low (~10–12%), near random chance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Gap: Large and growing (training ~40% vs validation ~10%)</a:t>
            </a:r>
            <a:endParaRPr lang="en-U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1660FA-7396-FA2C-EF27-40F0EAE783A9}"/>
              </a:ext>
            </a:extLst>
          </p:cNvPr>
          <p:cNvSpPr txBox="1"/>
          <p:nvPr/>
        </p:nvSpPr>
        <p:spPr>
          <a:xfrm>
            <a:off x="6509657" y="4241375"/>
            <a:ext cx="49356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u="sng" dirty="0"/>
              <a:t>Loss: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Training: Starts at ~2.0, stabilizes around 1.8–1.9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Validation: Starts at ~9.5, fluctuates between 6–10 with spikes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Gap: Very large (validation loss 3–5x higher)</a:t>
            </a:r>
            <a:endParaRPr lang="en-U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5327D-AE89-AF27-50FB-5B7550E7B3F5}"/>
              </a:ext>
            </a:extLst>
          </p:cNvPr>
          <p:cNvSpPr txBox="1"/>
          <p:nvPr/>
        </p:nvSpPr>
        <p:spPr>
          <a:xfrm>
            <a:off x="486261" y="6201677"/>
            <a:ext cx="10959048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Segoe WPC"/>
              </a:rPr>
              <a:t>Overall:</a:t>
            </a:r>
            <a:r>
              <a:rPr lang="en-US" b="1" dirty="0">
                <a:latin typeface="Segoe WPC"/>
              </a:rPr>
              <a:t> Severe overfitting. </a:t>
            </a:r>
            <a:r>
              <a:rPr lang="en-US" dirty="0">
                <a:latin typeface="Segoe WPC"/>
              </a:rPr>
              <a:t>Training improves but validation does not, indicating poor generalization.</a:t>
            </a:r>
            <a:endParaRPr lang="en-U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E43D6C-5D47-AF3B-670A-56C80B187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71" y="753385"/>
            <a:ext cx="10872238" cy="35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922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8519-4F1B-799A-5044-F5C6F81E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4DDE2-BB25-940E-4DFF-F963C03A6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81" y="208343"/>
            <a:ext cx="11443565" cy="571480"/>
          </a:xfrm>
        </p:spPr>
        <p:txBody>
          <a:bodyPr>
            <a:noAutofit/>
          </a:bodyPr>
          <a:lstStyle/>
          <a:p>
            <a:r>
              <a:rPr lang="en-US" sz="3500" b="1" dirty="0"/>
              <a:t>Plot training history (accuracy/loss) for all models</a:t>
            </a:r>
            <a:endParaRPr lang="en-UG" sz="35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F7831C-D673-2682-2495-AD5F553D12F1}"/>
              </a:ext>
            </a:extLst>
          </p:cNvPr>
          <p:cNvSpPr txBox="1"/>
          <p:nvPr/>
        </p:nvSpPr>
        <p:spPr>
          <a:xfrm>
            <a:off x="659881" y="4476951"/>
            <a:ext cx="54361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G" b="1" u="sng" dirty="0"/>
              <a:t>Accuracy: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Training: Starts at ~43%, stabilizes around ~45% by epoch 5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Validation: Starts at ~15%, drops to ~10% at epoch 2, recovers to ~15% by epoch 5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Gap: Very large (~30% difference)</a:t>
            </a:r>
            <a:endParaRPr lang="en-U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EC13AD-D021-CBA1-C1B2-8F8C618D5D60}"/>
              </a:ext>
            </a:extLst>
          </p:cNvPr>
          <p:cNvSpPr txBox="1"/>
          <p:nvPr/>
        </p:nvSpPr>
        <p:spPr>
          <a:xfrm>
            <a:off x="6411686" y="4429137"/>
            <a:ext cx="51204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u="sng" dirty="0"/>
              <a:t>Loss: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Training: Starts at ~1.8, stays stable around 1.7–1.8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Validation: Starts at ~7.5, spikes to &gt;8.0 at epoch 2, decreases to ~6.0 by epoch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Gap: Very large (validation loss 3–4x higher)</a:t>
            </a:r>
            <a:endParaRPr lang="en-U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0B8707-25CC-9824-B679-5A064C2275BE}"/>
              </a:ext>
            </a:extLst>
          </p:cNvPr>
          <p:cNvSpPr txBox="1"/>
          <p:nvPr/>
        </p:nvSpPr>
        <p:spPr>
          <a:xfrm>
            <a:off x="648995" y="6335172"/>
            <a:ext cx="1087223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G" b="1" dirty="0"/>
              <a:t>Overall:</a:t>
            </a:r>
            <a:r>
              <a:rPr lang="en-US" b="1" dirty="0"/>
              <a:t> Severe overfitting. </a:t>
            </a:r>
            <a:r>
              <a:rPr lang="en-US" dirty="0"/>
              <a:t>Fine-tuning did not improve generalization; validation metrics are poor</a:t>
            </a:r>
            <a:r>
              <a:rPr lang="en-UG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93FD9D-925B-7791-48F5-CC782E2E9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1" y="779823"/>
            <a:ext cx="10872238" cy="35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25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27D69-BFD0-C33F-892E-08729F026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444B-3AC0-CC2A-FE26-3887C8A31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4846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&amp; Discussion</a:t>
            </a:r>
            <a:endParaRPr lang="en-U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67A518-B1F2-5ADE-1123-8860F2B13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78760"/>
            <a:ext cx="8556177" cy="2350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14441A-AB7F-6002-5BEB-40A9030A8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17178"/>
            <a:ext cx="7195457" cy="25886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6F1544-B5A0-BFE2-6171-A5B3466E7E60}"/>
              </a:ext>
            </a:extLst>
          </p:cNvPr>
          <p:cNvSpPr txBox="1"/>
          <p:nvPr/>
        </p:nvSpPr>
        <p:spPr>
          <a:xfrm>
            <a:off x="9535884" y="1666051"/>
            <a:ext cx="2340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dirty="0"/>
              <a:t>Part 1.1: 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G" dirty="0"/>
              <a:t>Test Set Accuracy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E4FD1A-2CA3-F9C1-E10F-D96E3BE3E7FF}"/>
              </a:ext>
            </a:extLst>
          </p:cNvPr>
          <p:cNvSpPr txBox="1"/>
          <p:nvPr/>
        </p:nvSpPr>
        <p:spPr>
          <a:xfrm>
            <a:off x="8365669" y="4868783"/>
            <a:ext cx="2340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Part 1.2: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Validation Accuracy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134176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D3FB-9BAA-FB71-FE95-2E63EA96D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4846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&amp; Discussion</a:t>
            </a:r>
            <a:endParaRPr lang="en-U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D9A53C-03CF-C47D-102E-4A6E8F885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9149"/>
            <a:ext cx="7881257" cy="52998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430975-2E5C-8288-E683-E5CB57ED94E3}"/>
              </a:ext>
            </a:extLst>
          </p:cNvPr>
          <p:cNvSpPr txBox="1"/>
          <p:nvPr/>
        </p:nvSpPr>
        <p:spPr>
          <a:xfrm>
            <a:off x="8839200" y="2782669"/>
            <a:ext cx="23077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dirty="0"/>
              <a:t>Part 1.3: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G" dirty="0"/>
              <a:t>Overfitting Analysis</a:t>
            </a:r>
          </a:p>
        </p:txBody>
      </p:sp>
    </p:spTree>
    <p:extLst>
      <p:ext uri="{BB962C8B-B14F-4D97-AF65-F5344CB8AC3E}">
        <p14:creationId xmlns:p14="http://schemas.microsoft.com/office/powerpoint/2010/main" val="1691508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FE07F-619F-DB7A-EFAB-30BF331DB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411B8-8E02-FCEB-BDF5-9E7508F6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4846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&amp; Discussion</a:t>
            </a:r>
            <a:endParaRPr lang="en-U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3C002-F3CD-4D4A-964D-E5B50A8AC58C}"/>
              </a:ext>
            </a:extLst>
          </p:cNvPr>
          <p:cNvSpPr txBox="1"/>
          <p:nvPr/>
        </p:nvSpPr>
        <p:spPr>
          <a:xfrm>
            <a:off x="8839200" y="2782669"/>
            <a:ext cx="2656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Part 1.4: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Configuration</a:t>
            </a:r>
            <a:endParaRPr lang="en-U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3430FC-2506-8060-66E1-B8CF212FA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33207"/>
            <a:ext cx="7831296" cy="303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84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BCF23-9C62-19A7-0916-EE23C7DF5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11443-E956-8E51-35E1-F81736EE2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4846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&amp; Discussion</a:t>
            </a:r>
            <a:endParaRPr lang="en-U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9967B3-C452-EE45-57B9-4CD877CEA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617" y="1289044"/>
            <a:ext cx="9809867" cy="483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357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A2684-CFA1-A306-EADE-D46A94061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7152B-CF5B-F1FB-C2DF-57E16F62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4846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&amp; Discussion</a:t>
            </a:r>
            <a:endParaRPr lang="en-U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FE382-F9AA-F867-EBFD-FAE0297B4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617" y="1289044"/>
            <a:ext cx="9809867" cy="483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688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99534-EA6C-22F0-782B-44CDE023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286D-E49A-8A2D-6C63-1500432F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336" y="1692169"/>
            <a:ext cx="2237773" cy="728663"/>
          </a:xfrm>
        </p:spPr>
        <p:txBody>
          <a:bodyPr>
            <a:normAutofit/>
          </a:bodyPr>
          <a:lstStyle/>
          <a:p>
            <a:r>
              <a:rPr lang="en-US" b="1" dirty="0"/>
              <a:t>THE END</a:t>
            </a:r>
            <a:endParaRPr lang="en-UG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D162BB-205F-9100-551B-18368E674066}"/>
              </a:ext>
            </a:extLst>
          </p:cNvPr>
          <p:cNvGraphicFramePr>
            <a:graphicFrameLocks noGrp="1"/>
          </p:cNvGraphicFramePr>
          <p:nvPr/>
        </p:nvGraphicFramePr>
        <p:xfrm>
          <a:off x="829519" y="2999172"/>
          <a:ext cx="10532962" cy="2475653"/>
        </p:xfrm>
        <a:graphic>
          <a:graphicData uri="http://schemas.openxmlformats.org/drawingml/2006/table">
            <a:tbl>
              <a:tblPr/>
              <a:tblGrid>
                <a:gridCol w="1620455">
                  <a:extLst>
                    <a:ext uri="{9D8B030D-6E8A-4147-A177-3AD203B41FA5}">
                      <a16:colId xmlns:a16="http://schemas.microsoft.com/office/drawing/2014/main" val="1810663039"/>
                    </a:ext>
                  </a:extLst>
                </a:gridCol>
                <a:gridCol w="8912507">
                  <a:extLst>
                    <a:ext uri="{9D8B030D-6E8A-4147-A177-3AD203B41FA5}">
                      <a16:colId xmlns:a16="http://schemas.microsoft.com/office/drawing/2014/main" val="3389121005"/>
                    </a:ext>
                  </a:extLst>
                </a:gridCol>
              </a:tblGrid>
              <a:tr h="920171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STUDENTS</a:t>
                      </a:r>
                      <a:endParaRPr lang="en-UG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3741" marR="113741" marT="56870" marB="568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AINEDEMBE DENIS</a:t>
                      </a:r>
                      <a:b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+256 788-674576 dembedenisjb@gmail.com, ainedembe.denis@stud.umu.ac.ug</a:t>
                      </a:r>
                      <a:endParaRPr lang="en-UG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581867"/>
                  </a:ext>
                </a:extLst>
              </a:tr>
              <a:tr h="920171">
                <a:tc v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G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MUSINGUZI BENSON</a:t>
                      </a:r>
                      <a:br>
                        <a:rPr lang="en-UG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G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+256 782 942245, musiben@gmail.com, musinguzi.benson@stud.umu.ac.ug</a:t>
                      </a: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176790"/>
                  </a:ext>
                </a:extLst>
              </a:tr>
              <a:tr h="6353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LECTURER </a:t>
                      </a:r>
                      <a:endParaRPr lang="en-UG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Dr. </a:t>
                      </a:r>
                      <a:r>
                        <a:rPr lang="en-CA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Sibitenda</a:t>
                      </a: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Harriet</a:t>
                      </a:r>
                      <a:b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+256 777 056581 hsibitenda@umu.ac.ug</a:t>
                      </a:r>
                      <a:endParaRPr lang="en-UG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554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561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939</Words>
  <Application>Microsoft Office PowerPoint</Application>
  <PresentationFormat>Widescreen</PresentationFormat>
  <Paragraphs>138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Segoe WPC</vt:lpstr>
      <vt:lpstr>Times New Roman</vt:lpstr>
      <vt:lpstr>Office Theme</vt:lpstr>
      <vt:lpstr>DEEP LEARNING  Image Recognition with Transfer Learning (CIFAR-10 Dataset)</vt:lpstr>
      <vt:lpstr>Project Objectives</vt:lpstr>
      <vt:lpstr>About the CIFAR-10 Dataset</vt:lpstr>
      <vt:lpstr>About the CIFAR-10 Dataset</vt:lpstr>
      <vt:lpstr>Real-Life Applicability</vt:lpstr>
      <vt:lpstr>Load CIFAR-10 datase</vt:lpstr>
      <vt:lpstr>Visualize sample images from each class</vt:lpstr>
      <vt:lpstr>PowerPoint Presentation</vt:lpstr>
      <vt:lpstr>Data augmentation - Applying rotation, flipping, and shifts</vt:lpstr>
      <vt:lpstr>Apply data augmentation (rotation, flipping, shifts)</vt:lpstr>
      <vt:lpstr>Apply data augmentation (rotation, flipping, shifts)</vt:lpstr>
      <vt:lpstr>Using pre-trained MobileNetV2 for transfer learning</vt:lpstr>
      <vt:lpstr>Freeze lower layers, retrain top layers for 10 epochs</vt:lpstr>
      <vt:lpstr>Freeze lower layers, retrain top layers for 10 epochs</vt:lpstr>
      <vt:lpstr>Fine-tuning different layers and learning rates</vt:lpstr>
      <vt:lpstr>Experimenting with fine-tuning different layers &amp; learning rates</vt:lpstr>
      <vt:lpstr>Building custom CNN from scratch for performance comparison</vt:lpstr>
      <vt:lpstr>Building custom CNN from scratch for performance comparison</vt:lpstr>
      <vt:lpstr>Evaluating accuracy and confusion matrix; visualize predictions</vt:lpstr>
      <vt:lpstr>Compare Performance with custom CNN (Continued)</vt:lpstr>
      <vt:lpstr>Plot training history (accuracy/loss) for all models</vt:lpstr>
      <vt:lpstr>Plot training history (accuracy/loss) for all models</vt:lpstr>
      <vt:lpstr>Plot training history (accuracy/loss) for all models</vt:lpstr>
      <vt:lpstr>Summary &amp; Discussion</vt:lpstr>
      <vt:lpstr>Summary &amp; Discussion</vt:lpstr>
      <vt:lpstr>Summary &amp; Discussion</vt:lpstr>
      <vt:lpstr>Summary &amp; Discussion</vt:lpstr>
      <vt:lpstr>Summary &amp; Discussion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Ainedembe Denis</dc:creator>
  <cp:lastModifiedBy>Ainedembe Denis</cp:lastModifiedBy>
  <cp:revision>112</cp:revision>
  <dcterms:created xsi:type="dcterms:W3CDTF">2025-11-24T20:40:08Z</dcterms:created>
  <dcterms:modified xsi:type="dcterms:W3CDTF">2025-11-26T20:23:34Z</dcterms:modified>
</cp:coreProperties>
</file>